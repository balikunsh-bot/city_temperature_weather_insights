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12" r:id="rId6"/>
    <p:sldId id="299" r:id="rId7"/>
    <p:sldId id="310" r:id="rId8"/>
    <p:sldId id="300" r:id="rId9"/>
    <p:sldId id="315" r:id="rId10"/>
    <p:sldId id="313" r:id="rId11"/>
    <p:sldId id="314" r:id="rId12"/>
    <p:sldId id="301" r:id="rId13"/>
    <p:sldId id="302" r:id="rId14"/>
    <p:sldId id="305" r:id="rId15"/>
    <p:sldId id="304" r:id="rId16"/>
    <p:sldId id="30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3" y="0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7750" y="1425205"/>
            <a:ext cx="3425116" cy="423138"/>
          </a:xfrm>
        </p:spPr>
        <p:txBody>
          <a:bodyPr anchor="b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DATATHON – ROUND-3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F3D04-5F8D-BB6F-68A7-669D968DDBD3}"/>
              </a:ext>
            </a:extLst>
          </p:cNvPr>
          <p:cNvSpPr txBox="1"/>
          <p:nvPr/>
        </p:nvSpPr>
        <p:spPr>
          <a:xfrm>
            <a:off x="8001000" y="1898371"/>
            <a:ext cx="328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CRISIS PROBLEM - BANGALORE</a:t>
            </a:r>
          </a:p>
          <a:p>
            <a:r>
              <a:rPr lang="en-US" dirty="0"/>
              <a:t>Team: Climate Warriors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E5903-9C40-1A0B-5B75-5FCBB729FA87}"/>
              </a:ext>
            </a:extLst>
          </p:cNvPr>
          <p:cNvSpPr txBox="1"/>
          <p:nvPr/>
        </p:nvSpPr>
        <p:spPr>
          <a:xfrm>
            <a:off x="8488018" y="4547993"/>
            <a:ext cx="2985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PRESENTED BY:</a:t>
            </a:r>
          </a:p>
          <a:p>
            <a:pPr algn="r"/>
            <a:r>
              <a:rPr lang="en-US" dirty="0"/>
              <a:t>KUNSH BALI – 2BScDS</a:t>
            </a:r>
          </a:p>
          <a:p>
            <a:pPr algn="r"/>
            <a:r>
              <a:rPr lang="en-US" dirty="0"/>
              <a:t>NAVEEN SINGH S – 2BScDM</a:t>
            </a:r>
          </a:p>
        </p:txBody>
      </p:sp>
      <p:pic>
        <p:nvPicPr>
          <p:cNvPr id="1028" name="Picture 4" descr="What is the Scope of Data Science | Benefits and Advantage of Data Science  Course- FORE">
            <a:extLst>
              <a:ext uri="{FF2B5EF4-FFF2-40B4-BE49-F238E27FC236}">
                <a16:creationId xmlns:a16="http://schemas.microsoft.com/office/drawing/2014/main" id="{DDAA7698-A8CE-A4F6-602E-DA55E2C10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424" y="2664019"/>
            <a:ext cx="2679430" cy="151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7C6FBC-40BF-8F96-F555-506C01531C15}"/>
              </a:ext>
            </a:extLst>
          </p:cNvPr>
          <p:cNvSpPr txBox="1"/>
          <p:nvPr/>
        </p:nvSpPr>
        <p:spPr>
          <a:xfrm>
            <a:off x="616017" y="1767180"/>
            <a:ext cx="106166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City Assigned: Bengaluru</a:t>
            </a:r>
          </a:p>
          <a:p>
            <a:endParaRPr lang="en-US" sz="20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Crisis 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Bengaluru is facing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rising temperatures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increasing irregular rainfall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higher humidity fluctuations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over the years.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city shows signs of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climate volatility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with hotter years becoming more frequent and rainfall distribution becoming unpredictable.</a:t>
            </a:r>
          </a:p>
          <a:p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3. Why This Issue Matters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Impacts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water security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(already a major challenge for Bengaluru).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Affects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public health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due to heat stress and humidity.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Influences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agriculture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in the surrounding districts and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urban planning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Early signals of long-term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climate instability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that can escalate if ignored.</a:t>
            </a:r>
          </a:p>
          <a:p>
            <a:endParaRPr lang="en-IN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6B1A9-DC3E-1B2E-CAB2-21FEB978F2B5}"/>
              </a:ext>
            </a:extLst>
          </p:cNvPr>
          <p:cNvSpPr txBox="1"/>
          <p:nvPr/>
        </p:nvSpPr>
        <p:spPr>
          <a:xfrm>
            <a:off x="616017" y="316596"/>
            <a:ext cx="8171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Introduction</a:t>
            </a:r>
            <a:endParaRPr lang="en-IN" sz="3200" dirty="0"/>
          </a:p>
        </p:txBody>
      </p:sp>
      <p:pic>
        <p:nvPicPr>
          <p:cNvPr id="2050" name="Picture 2" descr="Bangalore 2025 | City Guide, Map, Metro, Weather &amp; Prices">
            <a:extLst>
              <a:ext uri="{FF2B5EF4-FFF2-40B4-BE49-F238E27FC236}">
                <a16:creationId xmlns:a16="http://schemas.microsoft.com/office/drawing/2014/main" id="{F31BED93-6502-902C-E455-072D861FB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202" y="316596"/>
            <a:ext cx="3681379" cy="2147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77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B72383-F5BD-22A2-27C8-C9D0B5101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43" y="259074"/>
            <a:ext cx="4648849" cy="2781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F524D8-39F3-1F55-E3FB-AF1150E30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43" y="3269362"/>
            <a:ext cx="4725059" cy="27150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E0F41D-D2AD-1F84-14F2-1403C57E52E1}"/>
              </a:ext>
            </a:extLst>
          </p:cNvPr>
          <p:cNvSpPr txBox="1"/>
          <p:nvPr/>
        </p:nvSpPr>
        <p:spPr>
          <a:xfrm>
            <a:off x="5458967" y="709142"/>
            <a:ext cx="6527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data suggests that the temperature hardly goes below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20</a:t>
            </a:r>
            <a:r>
              <a:rPr lang="en-IN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°C</a:t>
            </a:r>
            <a:r>
              <a:rPr lang="en-I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suggesting that Bangalore lies in a Subtropical Region, thereby, in Bangalore, the winter is mild or frost-free.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F08D2A-1CA5-4CD2-5432-E90F5C7B1AFF}"/>
              </a:ext>
            </a:extLst>
          </p:cNvPr>
          <p:cNvSpPr txBox="1"/>
          <p:nvPr/>
        </p:nvSpPr>
        <p:spPr>
          <a:xfrm>
            <a:off x="5458967" y="185922"/>
            <a:ext cx="6117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graph moves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up and down like a wave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showing that the weather follows a very predictable pattern where it gets warm and cool at the same time every year.</a:t>
            </a:r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4A03A-B330-01BC-0FF3-FE25625FDBED}"/>
              </a:ext>
            </a:extLst>
          </p:cNvPr>
          <p:cNvSpPr txBox="1"/>
          <p:nvPr/>
        </p:nvSpPr>
        <p:spPr>
          <a:xfrm>
            <a:off x="5458966" y="1442660"/>
            <a:ext cx="62819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line is very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shaky rather than smooth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 It indicates the day-to-day weather: a sudden windstorm or a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windy day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frequently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knocks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temperature down for a short bit before it bounces back.</a:t>
            </a:r>
            <a:endParaRPr lang="en-IN" sz="14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3132DD-4204-CE50-7EAC-680A0B948D1E}"/>
              </a:ext>
            </a:extLst>
          </p:cNvPr>
          <p:cNvSpPr txBox="1"/>
          <p:nvPr/>
        </p:nvSpPr>
        <p:spPr>
          <a:xfrm>
            <a:off x="5458967" y="2304288"/>
            <a:ext cx="61173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Conclusion: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 long-term change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(consistent graph).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Peak Temperature: 28 °C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most probably due to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extra humidity or clouds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kicking in to stop the temperature from rising any further.</a:t>
            </a:r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E873CA-163B-83F8-CFD9-4A343C133908}"/>
              </a:ext>
            </a:extLst>
          </p:cNvPr>
          <p:cNvSpPr txBox="1"/>
          <p:nvPr/>
        </p:nvSpPr>
        <p:spPr>
          <a:xfrm>
            <a:off x="5458967" y="3256028"/>
            <a:ext cx="61996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</a:t>
            </a:r>
            <a:r>
              <a:rPr lang="en-I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 graph shows </a:t>
            </a:r>
            <a:r>
              <a:rPr lang="en-IN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Sudden Bursts</a:t>
            </a:r>
            <a:r>
              <a:rPr lang="en-I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that is, instead of a steady rain, it is </a:t>
            </a:r>
            <a:r>
              <a:rPr lang="en-IN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mostly dry </a:t>
            </a:r>
            <a:r>
              <a:rPr lang="en-I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is interrupted by </a:t>
            </a:r>
            <a:r>
              <a:rPr lang="en-IN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sudden heavy downpours</a:t>
            </a:r>
            <a:r>
              <a:rPr lang="en-I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that hit the </a:t>
            </a:r>
            <a:r>
              <a:rPr lang="en-IN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10mm </a:t>
            </a:r>
            <a:r>
              <a:rPr lang="en-I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mark quickly and then disappear.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F21034-1D26-41E4-4524-2900AB2924DA}"/>
              </a:ext>
            </a:extLst>
          </p:cNvPr>
          <p:cNvSpPr txBox="1"/>
          <p:nvPr/>
        </p:nvSpPr>
        <p:spPr>
          <a:xfrm>
            <a:off x="5458966" y="4096512"/>
            <a:ext cx="6199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way the </a:t>
            </a:r>
            <a:r>
              <a:rPr lang="en-US" sz="1400" b="1" dirty="0"/>
              <a:t>blue bars </a:t>
            </a:r>
            <a:r>
              <a:rPr lang="en-US" sz="1400" dirty="0"/>
              <a:t>are </a:t>
            </a:r>
            <a:r>
              <a:rPr lang="en-US" sz="1400" b="1" dirty="0"/>
              <a:t>grouped </a:t>
            </a:r>
            <a:r>
              <a:rPr lang="en-US" sz="1400" dirty="0"/>
              <a:t>into </a:t>
            </a:r>
            <a:r>
              <a:rPr lang="en-US" sz="1400" b="1" dirty="0"/>
              <a:t>clumps </a:t>
            </a:r>
            <a:r>
              <a:rPr lang="en-US" sz="1400" dirty="0"/>
              <a:t>makes it certain that the </a:t>
            </a:r>
            <a:r>
              <a:rPr lang="en-US" sz="1400" b="1" dirty="0"/>
              <a:t>rainfall happens </a:t>
            </a:r>
            <a:r>
              <a:rPr lang="en-US" sz="1400" dirty="0"/>
              <a:t>during </a:t>
            </a:r>
            <a:r>
              <a:rPr lang="en-US" sz="1400" b="1" dirty="0"/>
              <a:t>a part of the year</a:t>
            </a:r>
            <a:r>
              <a:rPr lang="en-US" sz="1400" dirty="0"/>
              <a:t>, while it remains dry at other times.</a:t>
            </a:r>
            <a:endParaRPr lang="en-I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DA764D-2662-D802-355F-F8E3DA15F36E}"/>
              </a:ext>
            </a:extLst>
          </p:cNvPr>
          <p:cNvSpPr txBox="1"/>
          <p:nvPr/>
        </p:nvSpPr>
        <p:spPr>
          <a:xfrm>
            <a:off x="5458966" y="4700016"/>
            <a:ext cx="58338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If you see the </a:t>
            </a:r>
            <a:r>
              <a:rPr lang="en-US" sz="1400" b="1" dirty="0"/>
              <a:t>dotted line(avg day wise), </a:t>
            </a:r>
            <a:r>
              <a:rPr lang="en-US" sz="1400" dirty="0"/>
              <a:t>it remains under </a:t>
            </a:r>
            <a:r>
              <a:rPr lang="en-US" sz="1400" b="1" dirty="0"/>
              <a:t>2 mm</a:t>
            </a:r>
            <a:r>
              <a:rPr lang="en-US" sz="1400" dirty="0"/>
              <a:t>; if you average the rain over the year, it will be clear that </a:t>
            </a:r>
            <a:r>
              <a:rPr lang="en-US" sz="1400" b="1" dirty="0"/>
              <a:t>most days receive little or no rainfall.</a:t>
            </a:r>
            <a:endParaRPr lang="en-IN" sz="1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03C7F6-EFC9-C2B2-B106-8DC782F24364}"/>
              </a:ext>
            </a:extLst>
          </p:cNvPr>
          <p:cNvSpPr txBox="1"/>
          <p:nvPr/>
        </p:nvSpPr>
        <p:spPr>
          <a:xfrm>
            <a:off x="5458967" y="5541264"/>
            <a:ext cx="6300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Conclusion: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If you look at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2018 vs 2020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clumps of “rain” look different,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which means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some years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have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more rainy days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even if the storm is equally strong</a:t>
            </a:r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209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8F796-BE81-F183-6531-7080CBDB7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72" y="139055"/>
            <a:ext cx="4563112" cy="286742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4E8F4B-C601-18C3-5C37-FB9490E10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985433"/>
              </p:ext>
            </p:extLst>
          </p:nvPr>
        </p:nvGraphicFramePr>
        <p:xfrm>
          <a:off x="475488" y="3992699"/>
          <a:ext cx="6995160" cy="2103120"/>
        </p:xfrm>
        <a:graphic>
          <a:graphicData uri="http://schemas.openxmlformats.org/drawingml/2006/table">
            <a:tbl>
              <a:tblPr/>
              <a:tblGrid>
                <a:gridCol w="1748790">
                  <a:extLst>
                    <a:ext uri="{9D8B030D-6E8A-4147-A177-3AD203B41FA5}">
                      <a16:colId xmlns:a16="http://schemas.microsoft.com/office/drawing/2014/main" val="910318958"/>
                    </a:ext>
                  </a:extLst>
                </a:gridCol>
                <a:gridCol w="1748790">
                  <a:extLst>
                    <a:ext uri="{9D8B030D-6E8A-4147-A177-3AD203B41FA5}">
                      <a16:colId xmlns:a16="http://schemas.microsoft.com/office/drawing/2014/main" val="2378995797"/>
                    </a:ext>
                  </a:extLst>
                </a:gridCol>
                <a:gridCol w="1748790">
                  <a:extLst>
                    <a:ext uri="{9D8B030D-6E8A-4147-A177-3AD203B41FA5}">
                      <a16:colId xmlns:a16="http://schemas.microsoft.com/office/drawing/2014/main" val="3951905424"/>
                    </a:ext>
                  </a:extLst>
                </a:gridCol>
                <a:gridCol w="1748790">
                  <a:extLst>
                    <a:ext uri="{9D8B030D-6E8A-4147-A177-3AD203B41FA5}">
                      <a16:colId xmlns:a16="http://schemas.microsoft.com/office/drawing/2014/main" val="37621141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Rainfall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Avg Temp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Remark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421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Peak rainfall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452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Second-highest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859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Driest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335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Slightly 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Warmest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0398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5AE811C-1078-0973-5324-4DE59107805D}"/>
              </a:ext>
            </a:extLst>
          </p:cNvPr>
          <p:cNvSpPr txBox="1"/>
          <p:nvPr/>
        </p:nvSpPr>
        <p:spPr>
          <a:xfrm>
            <a:off x="2548128" y="3429000"/>
            <a:ext cx="4892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Important Years</a:t>
            </a:r>
          </a:p>
          <a:p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2C0098-1DBC-7FC2-FD18-E23497313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725" y="3923816"/>
            <a:ext cx="3886742" cy="21720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9E1286-9F6F-C19E-AABE-B80705B3DC01}"/>
              </a:ext>
            </a:extLst>
          </p:cNvPr>
          <p:cNvSpPr txBox="1"/>
          <p:nvPr/>
        </p:nvSpPr>
        <p:spPr>
          <a:xfrm>
            <a:off x="5687568" y="256032"/>
            <a:ext cx="6053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From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Feb to May,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Both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Temperature and Rainfall Rise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together, indicating a transition into the hot and humid season.</a:t>
            </a:r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0BBD92-D33A-ABD7-BBD1-7FE955297A6E}"/>
              </a:ext>
            </a:extLst>
          </p:cNvPr>
          <p:cNvSpPr txBox="1"/>
          <p:nvPr/>
        </p:nvSpPr>
        <p:spPr>
          <a:xfrm>
            <a:off x="5687568" y="1033272"/>
            <a:ext cx="5504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Both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temperature and rainfall drop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towards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December and January,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indicating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low rainfall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cool temperatures.</a:t>
            </a:r>
            <a:endParaRPr lang="en-IN" sz="14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13E8F8-2063-0FA0-6DE8-844079A23F97}"/>
              </a:ext>
            </a:extLst>
          </p:cNvPr>
          <p:cNvSpPr txBox="1"/>
          <p:nvPr/>
        </p:nvSpPr>
        <p:spPr>
          <a:xfrm>
            <a:off x="5687568" y="1773936"/>
            <a:ext cx="5504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highest total rainfall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happens in </a:t>
            </a:r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October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even though the temperature starts dropping quite rapidly </a:t>
            </a:r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152191-D517-1886-EC19-8140ABA0DEB4}"/>
              </a:ext>
            </a:extLst>
          </p:cNvPr>
          <p:cNvSpPr txBox="1"/>
          <p:nvPr/>
        </p:nvSpPr>
        <p:spPr>
          <a:xfrm>
            <a:off x="5687568" y="2532888"/>
            <a:ext cx="5879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Conclusion: The heat first builds up in the spring, which acts as the engine that pulls the moisture for the rains in the year.</a:t>
            </a:r>
            <a:endParaRPr lang="en-IN" sz="14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571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80146-D56E-83CF-41CA-F7EBAB98A5B1}"/>
              </a:ext>
            </a:extLst>
          </p:cNvPr>
          <p:cNvSpPr txBox="1"/>
          <p:nvPr/>
        </p:nvSpPr>
        <p:spPr>
          <a:xfrm>
            <a:off x="368968" y="1951672"/>
            <a:ext cx="110530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Insights: </a:t>
            </a: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FAE794-290B-6B3F-7F9B-9F114A95A4FB}"/>
              </a:ext>
            </a:extLst>
          </p:cNvPr>
          <p:cNvSpPr txBox="1"/>
          <p:nvPr/>
        </p:nvSpPr>
        <p:spPr>
          <a:xfrm>
            <a:off x="462012" y="2523533"/>
            <a:ext cx="110530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Temperature is stable across years(avg 26-27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°C)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Rainfall is highly uneven- big spikes in 2017 and 2021, and much lower rain in 2018 and 2022.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Monsoon (Jun-Sep) brings 70-75% of the total rainfall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Rainfall is becoming more extreme (high-intensity days instead of steady rain)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2021 stands out as the wettest Year.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360FC2-33BB-7C2C-FD02-AE653C2B26F0}"/>
              </a:ext>
            </a:extLst>
          </p:cNvPr>
          <p:cNvSpPr txBox="1"/>
          <p:nvPr/>
        </p:nvSpPr>
        <p:spPr>
          <a:xfrm>
            <a:off x="368968" y="4016176"/>
            <a:ext cx="3930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Risks and Future Concerns: </a:t>
            </a:r>
          </a:p>
          <a:p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ED87C-41C0-0E15-351E-CCD6D7636703}"/>
              </a:ext>
            </a:extLst>
          </p:cNvPr>
          <p:cNvSpPr txBox="1"/>
          <p:nvPr/>
        </p:nvSpPr>
        <p:spPr>
          <a:xfrm>
            <a:off x="462012" y="4616341"/>
            <a:ext cx="84046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Irregular monsoon- tougher agriculture, water planning.</a:t>
            </a: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Rainfall spikes: higher risk of floods, traffic paralysis, sewage overflow in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Low-rainfall years like 2018 and 2022 –water shortage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Temperature remaining high – increases heat-stress days, power demand and pollution risk.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9773A6-A5B3-1AB4-3413-21008A4A7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32" y="220612"/>
            <a:ext cx="9300362" cy="160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02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959056-8B49-A6F7-3052-3A3E4013E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32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02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E681F9-B02A-F65D-1BDA-CE3DCC741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6" y="0"/>
            <a:ext cx="8237934" cy="31320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79ADEC-63A6-BF7D-E5D2-BE94B7BCD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453" y="3211733"/>
            <a:ext cx="5011346" cy="3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64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908F91-049A-7A2B-46AE-C9FABBB53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4329" cy="2886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3970E-50BE-612C-CF4C-BA7457962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73" y="2886478"/>
            <a:ext cx="5878027" cy="351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98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29827-918C-23AD-4E33-4DD5BD10794B}"/>
              </a:ext>
            </a:extLst>
          </p:cNvPr>
          <p:cNvSpPr txBox="1"/>
          <p:nvPr/>
        </p:nvSpPr>
        <p:spPr>
          <a:xfrm>
            <a:off x="434978" y="364025"/>
            <a:ext cx="1078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Proposed Strategy- Smart Climate Response System</a:t>
            </a:r>
            <a:endParaRPr lang="en-IN" sz="36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4D8665-10D3-6337-4AE3-5BA63985645E}"/>
              </a:ext>
            </a:extLst>
          </p:cNvPr>
          <p:cNvSpPr txBox="1"/>
          <p:nvPr/>
        </p:nvSpPr>
        <p:spPr>
          <a:xfrm>
            <a:off x="434979" y="1870936"/>
            <a:ext cx="87493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Building a smart climate Response System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Daily weather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Real-time rainfall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Predictive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Community Alert System. </a:t>
            </a:r>
            <a:endParaRPr lang="en-IN"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788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58551-77C5-23C9-DF8D-436CDAA3382B}"/>
              </a:ext>
            </a:extLst>
          </p:cNvPr>
          <p:cNvSpPr txBox="1"/>
          <p:nvPr/>
        </p:nvSpPr>
        <p:spPr>
          <a:xfrm>
            <a:off x="442762" y="206559"/>
            <a:ext cx="59676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How it works: </a:t>
            </a:r>
          </a:p>
          <a:p>
            <a:endParaRPr lang="en-IN" sz="2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D18FF-9424-9CFB-C4B7-648A13D45B0A}"/>
              </a:ext>
            </a:extLst>
          </p:cNvPr>
          <p:cNvSpPr txBox="1"/>
          <p:nvPr/>
        </p:nvSpPr>
        <p:spPr>
          <a:xfrm>
            <a:off x="442762" y="852438"/>
            <a:ext cx="930763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1.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Monitor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Live rainfall, temperature, humidity,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pressure through IoT sensors.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2.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Predict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Machine learning model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predicts: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Heavy rainfall days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Flood risk zones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Heatwave probabilities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3.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Alert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Automatic alerts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 to: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Municipal bodies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Schools/offices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Citizens (SMS / WhatsApp)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4. </a:t>
            </a: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Act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City departments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execute:</a:t>
            </a: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Drainage cleaning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Water storage optimization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Traffic redirection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C50F8-D418-9C83-1EED-5E798FB8E30A}"/>
              </a:ext>
            </a:extLst>
          </p:cNvPr>
          <p:cNvSpPr txBox="1"/>
          <p:nvPr/>
        </p:nvSpPr>
        <p:spPr>
          <a:xfrm>
            <a:off x="5746282" y="2050181"/>
            <a:ext cx="567890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Why This Strategy Works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Data-driven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Uses actual weather trends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Prevents damage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Early warnings let govt prepare for floods, storms, and water scarcity.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Low cost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Uses existing IMD data + low-cost sensors.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Scalable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Can be used across cities or scaled to the state level.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Community focused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Keeps citizens informed -&gt;reduces panic &amp; chaos.</a:t>
            </a:r>
          </a:p>
          <a:p>
            <a:endParaRPr lang="en-IN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844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84F65E-FE48-65BB-2D42-F812428C13DE}"/>
              </a:ext>
            </a:extLst>
          </p:cNvPr>
          <p:cNvSpPr txBox="1"/>
          <p:nvPr/>
        </p:nvSpPr>
        <p:spPr>
          <a:xfrm>
            <a:off x="875899" y="1540042"/>
            <a:ext cx="1012577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Data Collection  </a:t>
            </a:r>
          </a:p>
          <a:p>
            <a:pPr algn="ctr"/>
            <a:r>
              <a:rPr lang="en-US" sz="2400" dirty="0"/>
              <a:t>     ↓</a:t>
            </a:r>
          </a:p>
          <a:p>
            <a:pPr algn="ctr"/>
            <a:r>
              <a:rPr lang="en-US" sz="2400" dirty="0"/>
              <a:t>Real-Time Processing  </a:t>
            </a:r>
          </a:p>
          <a:p>
            <a:pPr algn="ctr"/>
            <a:r>
              <a:rPr lang="en-US" sz="2400" dirty="0"/>
              <a:t>     ↓</a:t>
            </a:r>
          </a:p>
          <a:p>
            <a:pPr algn="ctr"/>
            <a:r>
              <a:rPr lang="en-US" sz="2400" dirty="0"/>
              <a:t>Prediction Model  </a:t>
            </a:r>
          </a:p>
          <a:p>
            <a:pPr algn="ctr"/>
            <a:r>
              <a:rPr lang="en-US" sz="2400" dirty="0"/>
              <a:t>     ↓</a:t>
            </a:r>
          </a:p>
          <a:p>
            <a:pPr algn="ctr"/>
            <a:r>
              <a:rPr lang="en-US" sz="2400" dirty="0"/>
              <a:t>Risk Evaluation  </a:t>
            </a:r>
          </a:p>
          <a:p>
            <a:pPr algn="ctr"/>
            <a:r>
              <a:rPr lang="en-US" sz="2400" dirty="0"/>
              <a:t>     ↓</a:t>
            </a:r>
          </a:p>
          <a:p>
            <a:pPr algn="ctr"/>
            <a:r>
              <a:rPr lang="en-US" sz="2400" dirty="0"/>
              <a:t>Decision Engine  </a:t>
            </a:r>
          </a:p>
          <a:p>
            <a:pPr algn="ctr"/>
            <a:r>
              <a:rPr lang="en-US" sz="2400" dirty="0"/>
              <a:t>     ↓</a:t>
            </a:r>
          </a:p>
          <a:p>
            <a:pPr algn="ctr"/>
            <a:r>
              <a:rPr lang="en-US" sz="2400" dirty="0"/>
              <a:t>Action &amp; Alerts 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B3DC04-455E-B7A7-7D91-D93AEFB59A19}"/>
              </a:ext>
            </a:extLst>
          </p:cNvPr>
          <p:cNvSpPr txBox="1"/>
          <p:nvPr/>
        </p:nvSpPr>
        <p:spPr>
          <a:xfrm>
            <a:off x="2290812" y="336884"/>
            <a:ext cx="75847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FLOWCHART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3028167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F63D03-8346-797E-86D2-6E21993670CD}"/>
              </a:ext>
            </a:extLst>
          </p:cNvPr>
          <p:cNvSpPr txBox="1"/>
          <p:nvPr/>
        </p:nvSpPr>
        <p:spPr>
          <a:xfrm>
            <a:off x="182880" y="991401"/>
            <a:ext cx="1317698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Conclusion</a:t>
            </a:r>
          </a:p>
          <a:p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Summary of Solution</a:t>
            </a:r>
          </a:p>
          <a:p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Our strategy focuses on: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Smart Water Management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real-time monitoring, rainwater harvesting, and efficient distribution.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Heat &amp; Climate Control Measures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cool roofing, increased green cover, and urban heat-island reduction.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Community-Driven Action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awareness programs, household conservation, and local reporting systems.</a:t>
            </a:r>
            <a:b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US" sz="2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Expected Impact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Reduced water stress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more reliable supply during peak summers.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Lower city temperatures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improved air quality over time.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Higher climate resilience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enabling Bengaluru to handle extreme weather events better.</a:t>
            </a:r>
          </a:p>
          <a:p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Sustainable, long-term eco-balance</a:t>
            </a: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supporting both people and the environment.</a:t>
            </a:r>
          </a:p>
          <a:p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869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ank you white 3D text abstract sci fi word">
            <a:extLst>
              <a:ext uri="{FF2B5EF4-FFF2-40B4-BE49-F238E27FC236}">
                <a16:creationId xmlns:a16="http://schemas.microsoft.com/office/drawing/2014/main" id="{1D6F519D-D1D5-1FD1-D8B4-A4A4CEDF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16359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{A751951A-C16A-4BAC-BE10-AAC043C974CD}TFb63a7776-4452-49b2-8055-21efce632b726e3c8758_win32-7d1db0309ca7</Template>
  <TotalTime>184</TotalTime>
  <Words>911</Words>
  <Application>Microsoft Office PowerPoint</Application>
  <PresentationFormat>Widescreen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Bookman Old Style</vt:lpstr>
      <vt:lpstr>Calibri</vt:lpstr>
      <vt:lpstr>Calibri Light</vt:lpstr>
      <vt:lpstr>Franklin Gothic Book</vt:lpstr>
      <vt:lpstr>Custom</vt:lpstr>
      <vt:lpstr>DATATHON – ROUND-3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SINGH</dc:creator>
  <cp:lastModifiedBy>Kunsh Bali</cp:lastModifiedBy>
  <cp:revision>6</cp:revision>
  <dcterms:created xsi:type="dcterms:W3CDTF">2026-02-14T04:42:01Z</dcterms:created>
  <dcterms:modified xsi:type="dcterms:W3CDTF">2026-02-15T05:05:26Z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